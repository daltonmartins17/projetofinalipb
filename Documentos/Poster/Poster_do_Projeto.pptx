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3"/>
  </p:notesMasterIdLst>
  <p:sldIdLst>
    <p:sldId id="257" r:id="rId2"/>
  </p:sldIdLst>
  <p:sldSz cx="21388388" cy="3027521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61" y="-4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60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8364A72-E0AD-4B66-9745-807F5755BEAC}" type="slidenum"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PT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ide cent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5"/>
          <p:cNvSpPr/>
          <p:nvPr/>
        </p:nvSpPr>
        <p:spPr>
          <a:xfrm rot="10800000">
            <a:off x="360" y="29233080"/>
            <a:ext cx="21387960" cy="1042200"/>
          </a:xfrm>
          <a:prstGeom prst="rect">
            <a:avLst/>
          </a:prstGeom>
          <a:gradFill rotWithShape="0">
            <a:gsLst>
              <a:gs pos="0">
                <a:srgbClr val="C197A9"/>
              </a:gs>
              <a:gs pos="100000">
                <a:srgbClr val="FFFFFF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3038760">
              <a:lnSpc>
                <a:spcPct val="100000"/>
              </a:lnSpc>
            </a:pPr>
            <a:endParaRPr lang="en-US" sz="60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" name="Rectangle 36"/>
          <p:cNvSpPr/>
          <p:nvPr/>
        </p:nvSpPr>
        <p:spPr>
          <a:xfrm>
            <a:off x="0" y="1080"/>
            <a:ext cx="21387960" cy="1042200"/>
          </a:xfrm>
          <a:prstGeom prst="rect">
            <a:avLst/>
          </a:prstGeom>
          <a:gradFill rotWithShape="0">
            <a:gsLst>
              <a:gs pos="0">
                <a:srgbClr val="C197A9"/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3038760">
              <a:lnSpc>
                <a:spcPct val="100000"/>
              </a:lnSpc>
            </a:pPr>
            <a:endParaRPr lang="en-US" sz="60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" name="Rectangle 37"/>
          <p:cNvSpPr/>
          <p:nvPr/>
        </p:nvSpPr>
        <p:spPr>
          <a:xfrm>
            <a:off x="-5400" y="4203360"/>
            <a:ext cx="21393360" cy="240120"/>
          </a:xfrm>
          <a:prstGeom prst="rect">
            <a:avLst/>
          </a:prstGeom>
          <a:gradFill rotWithShape="0">
            <a:gsLst>
              <a:gs pos="0">
                <a:srgbClr val="C197A9"/>
              </a:gs>
              <a:gs pos="51000">
                <a:srgbClr val="FFFFFF"/>
              </a:gs>
              <a:gs pos="100000">
                <a:srgbClr val="DAE9F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3038760">
              <a:lnSpc>
                <a:spcPct val="100000"/>
              </a:lnSpc>
            </a:pPr>
            <a:endParaRPr lang="en-US" sz="60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" name="Rounded Rectangle 38"/>
          <p:cNvSpPr/>
          <p:nvPr/>
        </p:nvSpPr>
        <p:spPr>
          <a:xfrm>
            <a:off x="429120" y="4835520"/>
            <a:ext cx="20511000" cy="24598080"/>
          </a:xfrm>
          <a:prstGeom prst="roundRect">
            <a:avLst>
              <a:gd name="adj" fmla="val 1956"/>
            </a:avLst>
          </a:prstGeom>
          <a:noFill/>
          <a:ln>
            <a:solidFill>
              <a:srgbClr val="83065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3038760">
              <a:lnSpc>
                <a:spcPct val="100000"/>
              </a:lnSpc>
            </a:pPr>
            <a:endParaRPr lang="en-US" sz="60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440640" y="5785200"/>
            <a:ext cx="4900320" cy="1787616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49640" y="-3342240"/>
            <a:ext cx="4896360" cy="1768608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1" u="sng" strike="noStrike" spc="-1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RESUMO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39920" y="13602960"/>
            <a:ext cx="4901040" cy="1787616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49640" y="4511160"/>
            <a:ext cx="4897440" cy="1768608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1" u="sng" strike="noStrike" spc="-1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 OBJECTIVOS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347080" y="9155160"/>
            <a:ext cx="10096560" cy="1787616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5347080" y="-48240"/>
            <a:ext cx="10096560" cy="1768608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1" u="sng" strike="noStrike" spc="-1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(header)  FERRAMENTAS &amp; MÉTODOS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5646600" y="19943640"/>
            <a:ext cx="10096560" cy="1787616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body"/>
          </p:nvPr>
        </p:nvSpPr>
        <p:spPr>
          <a:xfrm>
            <a:off x="5646600" y="10822320"/>
            <a:ext cx="10096560" cy="1768608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1" u="sng" strike="noStrike" spc="-1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 RESULTADOS/CONTRIBUIÇÕES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9"/>
          <p:cNvSpPr>
            <a:spLocks noGrp="1"/>
          </p:cNvSpPr>
          <p:nvPr>
            <p:ph type="body"/>
          </p:nvPr>
        </p:nvSpPr>
        <p:spPr>
          <a:xfrm>
            <a:off x="16044480" y="-3336120"/>
            <a:ext cx="4895640" cy="1768608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1" u="sng" strike="noStrike" spc="-1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CONCLUSÕES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10"/>
          <p:cNvSpPr>
            <a:spLocks noGrp="1"/>
          </p:cNvSpPr>
          <p:nvPr>
            <p:ph type="body"/>
          </p:nvPr>
        </p:nvSpPr>
        <p:spPr>
          <a:xfrm>
            <a:off x="16044480" y="5785200"/>
            <a:ext cx="4895640" cy="1787616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11"/>
          <p:cNvSpPr>
            <a:spLocks noGrp="1"/>
          </p:cNvSpPr>
          <p:nvPr>
            <p:ph type="body"/>
          </p:nvPr>
        </p:nvSpPr>
        <p:spPr>
          <a:xfrm>
            <a:off x="16041600" y="4566600"/>
            <a:ext cx="4895640" cy="1768608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1" u="sng" strike="noStrike" spc="-1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REFERÊNCIAS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12"/>
          <p:cNvSpPr>
            <a:spLocks noGrp="1"/>
          </p:cNvSpPr>
          <p:nvPr>
            <p:ph type="body"/>
          </p:nvPr>
        </p:nvSpPr>
        <p:spPr>
          <a:xfrm>
            <a:off x="16072920" y="13687920"/>
            <a:ext cx="4860000" cy="1787616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13"/>
          <p:cNvSpPr>
            <a:spLocks noGrp="1"/>
          </p:cNvSpPr>
          <p:nvPr>
            <p:ph type="body"/>
          </p:nvPr>
        </p:nvSpPr>
        <p:spPr>
          <a:xfrm>
            <a:off x="16044480" y="15483960"/>
            <a:ext cx="4895640" cy="1768608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1" u="sng" strike="noStrike" spc="-1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 AGRADECIMENTOS ou CONTACTOS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14"/>
          <p:cNvSpPr>
            <a:spLocks noGrp="1"/>
          </p:cNvSpPr>
          <p:nvPr>
            <p:ph type="body"/>
          </p:nvPr>
        </p:nvSpPr>
        <p:spPr>
          <a:xfrm>
            <a:off x="16035120" y="25051680"/>
            <a:ext cx="4898160" cy="1787616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marL="47520" indent="-47520" defTabSz="303876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15"/>
          <p:cNvSpPr>
            <a:spLocks noGrp="1"/>
          </p:cNvSpPr>
          <p:nvPr>
            <p:ph type="body"/>
          </p:nvPr>
        </p:nvSpPr>
        <p:spPr>
          <a:xfrm>
            <a:off x="2890080" y="3554280"/>
            <a:ext cx="15607800" cy="768960"/>
          </a:xfrm>
          <a:prstGeom prst="rect">
            <a:avLst/>
          </a:prstGeom>
          <a:noFill/>
          <a:ln w="0">
            <a:noFill/>
          </a:ln>
        </p:spPr>
        <p:txBody>
          <a:bodyPr lIns="54720" tIns="27360" rIns="54720" bIns="27360" anchor="t">
            <a:normAutofit/>
          </a:bodyPr>
          <a:lstStyle/>
          <a:p>
            <a:pPr indent="0" algn="ctr" defTabSz="3038760">
              <a:lnSpc>
                <a:spcPct val="100000"/>
              </a:lnSpc>
              <a:spcBef>
                <a:spcPts val="859"/>
              </a:spcBef>
              <a:buNone/>
              <a:tabLst>
                <a:tab pos="0" algn="l"/>
              </a:tabLst>
            </a:pPr>
            <a:r>
              <a:rPr lang="pt-PT" sz="4300" b="0" strike="noStrike" spc="-1">
                <a:solidFill>
                  <a:srgbClr val="0D568C"/>
                </a:solidFill>
                <a:latin typeface="Calibri"/>
              </a:rPr>
              <a:t>nome(s) do(s) orientador(es) e co-orientador(es)</a:t>
            </a:r>
            <a:endParaRPr lang="en-US" sz="43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16"/>
          <p:cNvSpPr>
            <a:spLocks noGrp="1"/>
          </p:cNvSpPr>
          <p:nvPr>
            <p:ph type="body"/>
          </p:nvPr>
        </p:nvSpPr>
        <p:spPr>
          <a:xfrm>
            <a:off x="2890080" y="2235600"/>
            <a:ext cx="15607800" cy="1318320"/>
          </a:xfrm>
          <a:prstGeom prst="rect">
            <a:avLst/>
          </a:prstGeom>
          <a:noFill/>
          <a:ln w="0">
            <a:noFill/>
          </a:ln>
        </p:spPr>
        <p:txBody>
          <a:bodyPr lIns="54720" tIns="27360" rIns="54720" bIns="27360" anchor="t" anchorCtr="1">
            <a:normAutofit/>
          </a:bodyPr>
          <a:lstStyle/>
          <a:p>
            <a:pPr indent="0" algn="ctr" defTabSz="3038760">
              <a:lnSpc>
                <a:spcPct val="100000"/>
              </a:lnSpc>
              <a:spcBef>
                <a:spcPts val="1281"/>
              </a:spcBef>
              <a:buNone/>
              <a:tabLst>
                <a:tab pos="0" algn="l"/>
              </a:tabLst>
            </a:pPr>
            <a:r>
              <a:rPr lang="pt-PT" sz="6400" b="0" strike="noStrike" spc="-1">
                <a:solidFill>
                  <a:schemeClr val="accent5">
                    <a:lumMod val="50000"/>
                  </a:schemeClr>
                </a:solidFill>
                <a:latin typeface="Calibri"/>
              </a:rPr>
              <a:t>nomes e números mecanográficos dos alunos </a:t>
            </a:r>
            <a:endParaRPr lang="en-US" sz="6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17"/>
          <p:cNvSpPr>
            <a:spLocks noGrp="1"/>
          </p:cNvSpPr>
          <p:nvPr>
            <p:ph type="body"/>
          </p:nvPr>
        </p:nvSpPr>
        <p:spPr>
          <a:xfrm>
            <a:off x="2890080" y="348480"/>
            <a:ext cx="15607800" cy="1886400"/>
          </a:xfrm>
          <a:prstGeom prst="rect">
            <a:avLst/>
          </a:prstGeom>
          <a:noFill/>
          <a:ln w="0">
            <a:noFill/>
          </a:ln>
        </p:spPr>
        <p:txBody>
          <a:bodyPr lIns="54720" tIns="27360" rIns="54720" bIns="27360" anchor="t" anchorCtr="1">
            <a:normAutofit/>
          </a:bodyPr>
          <a:lstStyle/>
          <a:p>
            <a:pPr indent="0" algn="ctr" defTabSz="3038760">
              <a:lnSpc>
                <a:spcPct val="100000"/>
              </a:lnSpc>
              <a:spcBef>
                <a:spcPts val="1981"/>
              </a:spcBef>
              <a:buNone/>
              <a:tabLst>
                <a:tab pos="0" algn="l"/>
              </a:tabLst>
            </a:pPr>
            <a:r>
              <a:rPr lang="pt-PT" sz="9900" b="0" strike="noStrike" spc="-1">
                <a:solidFill>
                  <a:schemeClr val="accent1"/>
                </a:solidFill>
                <a:latin typeface="Calibri"/>
              </a:rPr>
              <a:t>Título do Projeto</a:t>
            </a:r>
            <a:endParaRPr lang="en-US" sz="99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44" name="Group 30"/>
          <p:cNvGrpSpPr/>
          <p:nvPr/>
        </p:nvGrpSpPr>
        <p:grpSpPr>
          <a:xfrm>
            <a:off x="0" y="637920"/>
            <a:ext cx="3079800" cy="1842120"/>
            <a:chOff x="0" y="637920"/>
            <a:chExt cx="3079800" cy="1842120"/>
          </a:xfrm>
        </p:grpSpPr>
        <p:pic>
          <p:nvPicPr>
            <p:cNvPr id="45" name="Picture 31"/>
            <p:cNvPicPr/>
            <p:nvPr/>
          </p:nvPicPr>
          <p:blipFill>
            <a:blip r:embed="rId3"/>
            <a:stretch/>
          </p:blipFill>
          <p:spPr>
            <a:xfrm>
              <a:off x="0" y="637920"/>
              <a:ext cx="3079800" cy="1342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6" name="TextBox 32"/>
            <p:cNvSpPr/>
            <p:nvPr/>
          </p:nvSpPr>
          <p:spPr>
            <a:xfrm>
              <a:off x="475920" y="1841760"/>
              <a:ext cx="21276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3038760">
                <a:lnSpc>
                  <a:spcPct val="100000"/>
                </a:lnSpc>
              </a:pPr>
              <a:r>
                <a:rPr lang="pt-PT" sz="1800" b="0" strike="noStrike" spc="-1">
                  <a:solidFill>
                    <a:schemeClr val="accent1"/>
                  </a:solidFill>
                  <a:latin typeface="Calibri"/>
                </a:rPr>
                <a:t>Escola Superior de Tecnologia e Gestão</a:t>
              </a:r>
              <a:endParaRPr lang="pt-PT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TextBox 33"/>
          <p:cNvSpPr/>
          <p:nvPr/>
        </p:nvSpPr>
        <p:spPr>
          <a:xfrm>
            <a:off x="18536760" y="637200"/>
            <a:ext cx="2854080" cy="234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3038760">
              <a:lnSpc>
                <a:spcPct val="100000"/>
              </a:lnSpc>
            </a:pPr>
            <a:r>
              <a:rPr lang="pt-PT" sz="4400" b="1" strike="noStrike" spc="-1">
                <a:solidFill>
                  <a:schemeClr val="accent1"/>
                </a:solidFill>
                <a:latin typeface="Calibri"/>
              </a:rPr>
              <a:t>Informática</a:t>
            </a:r>
            <a:endParaRPr lang="pt-PT" sz="4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3038760">
              <a:lnSpc>
                <a:spcPct val="100000"/>
              </a:lnSpc>
            </a:pPr>
            <a:r>
              <a:rPr lang="pt-PT" sz="4400" b="1" strike="noStrike" spc="-1">
                <a:solidFill>
                  <a:schemeClr val="accent1"/>
                </a:solidFill>
                <a:latin typeface="Calibri"/>
              </a:rPr>
              <a:t>de Gestão</a:t>
            </a:r>
            <a:br>
              <a:rPr sz="6000"/>
            </a:br>
            <a:r>
              <a:rPr lang="pt-PT" sz="6000" b="1" strike="noStrike" spc="-1">
                <a:solidFill>
                  <a:schemeClr val="accent1"/>
                </a:solidFill>
                <a:latin typeface="Calibri"/>
              </a:rPr>
              <a:t>2024/25</a:t>
            </a:r>
            <a:endParaRPr lang="pt-PT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18"/>
          <p:cNvSpPr>
            <a:spLocks noGrp="1"/>
          </p:cNvSpPr>
          <p:nvPr>
            <p:ph type="title"/>
          </p:nvPr>
        </p:nvSpPr>
        <p:spPr>
          <a:xfrm>
            <a:off x="1069200" y="1207800"/>
            <a:ext cx="19248840" cy="505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440640" y="5785200"/>
            <a:ext cx="4900320" cy="1094832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O projeto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EducaWeb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foi desenvolvido no âmbito da Unidade Curricular de Projeto de Informática, tendo como ponto de partida a proposta apresentada pela orientadora, que visava a criação de um portal web destinado à educação online. Esta proposta definia como objetivo principal o desenvolvimento de uma plataforma acessível, funcional e interativa, que facilitasse a aprendizagem e promovesse a interação entre alunos e professores, através da disponibilização de cursos, materiais de estudo e sessões síncronas e assíncronas. Dando seguimento a esta proposta inicial, a plataforma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EducaWeb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foi concebida para responder às exigências do ensino digital contemporâneo, oferecendo funcionalidades como registo e autenticação de utilizadores, catálogo de cursos com filtros por nível e área temática, acompanhamento do progresso dos alunos, emissão de certificados, acesso a aulas ao vivo e gravadas, e suporte através de chat e FAQ.A arquitetura do sistema baseia-se em tecnologias modernas: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React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para o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frontend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, Node.js para o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backend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, e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MySQL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para a gestão da base de dados. Estas ferramentas permitem garantir uma aplicação responsiva, compatível com diversos dispositivos e com uma experiência de utilização fluida. O projeto teve como propósito, desde o início, criar uma solução educativa de excelência, centrada na interatividade, acessibilidade e qualidade do conteúdo.</a:t>
            </a:r>
            <a:endParaRPr lang="en-US" sz="2000" b="0" strike="noStrike" spc="-1" dirty="0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347080" y="9155160"/>
            <a:ext cx="10096560" cy="411084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O desenvolvimento do projeto seguiu uma metodologia iterativa, envolvendo as fases de levantamento de requisitos, análise, desenho, implementação, testes e documentação. Foram implementadas funcionalidades específicas para três perfis de utilizador: aluno, professor e administrador. Entre as tarefas realizadas destacam-se: estruturação de uma base de dados relacional em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MySQL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, desenvolvimento do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frontend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com React.js e do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backend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com Node.js/Express, implementação de um sistema de autenticação baseado em JSON Web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Tokens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(JWT), criação de áreas específicas para alunos (acesso a cursos, aulas e avaliações), professores (gestão de conteúdos e comunicação com alunos) e administradores (gestão do sistema e emissão de certificados), elaboração de protótipos interativos com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Figma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e conceção de uma interface responsiva com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Bootstrap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, testes manuais das funcionalidades implementadas. O trabalho incluiu ainda a documentação de casos de uso, fluxos de navegação e código-fonte relevante, permitindo uma visão abrangente da estrutura e funcionamento da plataforma.</a:t>
            </a:r>
            <a:endParaRPr lang="en-US" sz="2000" b="0" strike="noStrike" spc="-1" dirty="0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347080" y="8511840"/>
            <a:ext cx="10096560" cy="56556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PT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D</a:t>
            </a:r>
            <a:r>
              <a:rPr lang="pt-PT" sz="2800" b="0" strike="noStrike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escrição do trabalho realizado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646600" y="19943640"/>
            <a:ext cx="10096560" cy="375456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Ao longo do processo de testes e validação, foi possível comprovar que a plataforma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EducaWeb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cumpre os objetivos definidos, oferecendo uma experiência funcional, estável e adequada às necessidades dos seus diferentes perfis de utilizador. Página Inicial (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Home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) A interface principal da plataforma foi concebida com foco na clareza e acessibilidade, servindo como ponto de entrada para todos os utilizadores. Apresenta os destaques dos cursos, testemunhos e navegação facilitada para as diferentes secções do portal. Área do Aluno – Acesso a Cursos e Aulas Após o registo e autenticação, o aluno é direcionado para uma área personalizada onde pode visualizar os cursos em que está inscrito, aceder às aulas (ao vivo e gravadas), consultar materiais de apoio e realizar avaliações. Esta funcionalidade representa o núcleo pedagógico da plataforma. Área do Administrador – Gestão </a:t>
            </a:r>
            <a:r>
              <a:rPr lang="pt-PT" sz="2000" b="0" strike="noStrike" spc="-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 Certificação, </a:t>
            </a:r>
            <a:r>
              <a:rPr lang="pt-PT" sz="2000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a</a:t>
            </a:r>
            <a:r>
              <a:rPr lang="pt-PT" sz="2000" b="0" strike="noStrike" spc="-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plataforma permite ao administrador realizar uma gestão completa dos cursos, professores e alunos, bem como emitir certificados de conclusão. Esta funcionalidade assegura o encerramento formal do processo formativo e demonstra a robustez administrativa do sistema.</a:t>
            </a:r>
          </a:p>
          <a:p>
            <a:pPr indent="0">
              <a:spcBef>
                <a:spcPts val="1417"/>
              </a:spcBef>
              <a:buNone/>
            </a:pPr>
            <a:endParaRPr lang="en-US" sz="2000" b="0" strike="noStrike" spc="-1" dirty="0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5646600" y="19386360"/>
            <a:ext cx="10096560" cy="55836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PT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</a:t>
            </a:r>
            <a:r>
              <a:rPr lang="pt-PT" sz="2800" b="0" strike="noStrike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presentação de resultados 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/>
          </p:nvPr>
        </p:nvSpPr>
        <p:spPr>
          <a:xfrm>
            <a:off x="16035120" y="4872960"/>
            <a:ext cx="4895640" cy="98928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PT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D</a:t>
            </a:r>
            <a:r>
              <a:rPr lang="pt-PT" sz="2800" b="0" strike="noStrike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iscussão/apresentação de conclusões 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/>
          </p:nvPr>
        </p:nvSpPr>
        <p:spPr>
          <a:xfrm>
            <a:off x="16044480" y="5785200"/>
            <a:ext cx="4895640" cy="9226200"/>
          </a:xfrm>
          <a:prstGeom prst="rect">
            <a:avLst/>
          </a:prstGeom>
          <a:noFill/>
          <a:ln w="0">
            <a:noFill/>
          </a:ln>
        </p:spPr>
        <p:txBody>
          <a:bodyPr lIns="158400" tIns="158400" rIns="158400" bIns="15840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A concretização do projeto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EducaWeb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permitiu não só o desenvolvimento de uma aplicação com impacto potencial no domínio do ensino a distância, como também a consolidação de competências técnicas e transversais por parte dos autores. Verificou-se que a plataforma é tecnicamente viável e funcional, apresentando um conjunto sólido de características essenciais para suportar um ambiente de aprendizagem online moderno. Contudo, foram identificadas áreas de melhoria, nomeadamente: a introdução de testes automatizados, a otimização da geração e disponibilização de certificados, </a:t>
            </a:r>
            <a:r>
              <a:rPr lang="pt-PT" sz="2000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a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melhoria da acessibilidade (segundo as diretrizes WCAG)</a:t>
            </a:r>
            <a:r>
              <a:rPr lang="pt-PT" sz="2000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, a 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expansão da infraestrutura para uma arquitetura baseada em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microserviços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. Em conclusão, o projeto revelou-se um exercício académico enriquecedor e um passo importante para a futura inserção no mercado de trabalho. A </a:t>
            </a:r>
            <a:r>
              <a:rPr lang="pt-PT" sz="2000" b="0" strike="noStrike" spc="-1" dirty="0" err="1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EducaWeb</a:t>
            </a:r>
            <a:r>
              <a:rPr lang="pt-PT" sz="2000" b="0" strike="noStrike" spc="-1" dirty="0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 demonstra ser uma solução promissora e com capacidade de evolução, podendo vir a integrar-se com outras soluções existentes no ecossistema educativo digital.</a:t>
            </a:r>
            <a:endParaRPr lang="en-US" sz="2000" b="0" strike="noStrike" spc="-1" dirty="0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73" name="PlaceHolder 8"/>
          <p:cNvSpPr>
            <a:spLocks noGrp="1"/>
          </p:cNvSpPr>
          <p:nvPr>
            <p:ph/>
          </p:nvPr>
        </p:nvSpPr>
        <p:spPr>
          <a:xfrm>
            <a:off x="2890080" y="3554280"/>
            <a:ext cx="15607800" cy="768960"/>
          </a:xfrm>
          <a:prstGeom prst="rect">
            <a:avLst/>
          </a:prstGeom>
          <a:noFill/>
          <a:ln w="0">
            <a:noFill/>
          </a:ln>
        </p:spPr>
        <p:txBody>
          <a:bodyPr lIns="54720" tIns="27360" rIns="54720" bIns="27360" anchor="t">
            <a:normAutofit/>
          </a:bodyPr>
          <a:lstStyle/>
          <a:p>
            <a:pPr indent="0" algn="ctr">
              <a:spcBef>
                <a:spcPts val="1417"/>
              </a:spcBef>
              <a:buNone/>
            </a:pPr>
            <a:r>
              <a:rPr lang="en-US" sz="4400" dirty="0">
                <a:solidFill>
                  <a:schemeClr val="accent5">
                    <a:lumMod val="50000"/>
                  </a:schemeClr>
                </a:solidFill>
              </a:rPr>
              <a:t>Isabel Maria Lopes</a:t>
            </a:r>
          </a:p>
          <a:p>
            <a:pPr indent="0">
              <a:spcBef>
                <a:spcPts val="1417"/>
              </a:spcBef>
              <a:buNone/>
            </a:pPr>
            <a:endParaRPr lang="en-US" sz="4300" b="0" strike="noStrike" spc="-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74" name="PlaceHolder 9"/>
          <p:cNvSpPr>
            <a:spLocks noGrp="1"/>
          </p:cNvSpPr>
          <p:nvPr>
            <p:ph/>
          </p:nvPr>
        </p:nvSpPr>
        <p:spPr>
          <a:xfrm>
            <a:off x="2890080" y="2235600"/>
            <a:ext cx="15607800" cy="1318320"/>
          </a:xfrm>
          <a:prstGeom prst="rect">
            <a:avLst/>
          </a:prstGeom>
          <a:noFill/>
          <a:ln w="0">
            <a:noFill/>
          </a:ln>
        </p:spPr>
        <p:txBody>
          <a:bodyPr lIns="54720" tIns="27360" rIns="54720" bIns="27360" anchor="t">
            <a:normAutofit fontScale="70000" lnSpcReduction="20000"/>
          </a:bodyPr>
          <a:lstStyle/>
          <a:p>
            <a:pPr indent="0" algn="ctr">
              <a:spcBef>
                <a:spcPts val="1417"/>
              </a:spcBef>
              <a:buNone/>
            </a:pPr>
            <a:r>
              <a:rPr lang="en-US" sz="6400" b="0" strike="noStrike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Dalton Martin</a:t>
            </a:r>
            <a:r>
              <a:rPr lang="en-US" sz="6400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s a43051</a:t>
            </a:r>
          </a:p>
          <a:p>
            <a:pPr indent="0" algn="ctr">
              <a:spcBef>
                <a:spcPts val="1417"/>
              </a:spcBef>
              <a:buNone/>
            </a:pPr>
            <a:r>
              <a:rPr lang="en-US" sz="6400" b="0" strike="noStrike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Rafael Gracias a48713</a:t>
            </a:r>
          </a:p>
        </p:txBody>
      </p:sp>
      <p:sp>
        <p:nvSpPr>
          <p:cNvPr id="75" name="PlaceHolder 10"/>
          <p:cNvSpPr>
            <a:spLocks noGrp="1"/>
          </p:cNvSpPr>
          <p:nvPr>
            <p:ph/>
          </p:nvPr>
        </p:nvSpPr>
        <p:spPr>
          <a:xfrm>
            <a:off x="2890080" y="548640"/>
            <a:ext cx="15607800" cy="1686600"/>
          </a:xfrm>
          <a:prstGeom prst="rect">
            <a:avLst/>
          </a:prstGeom>
          <a:noFill/>
          <a:ln w="0">
            <a:noFill/>
          </a:ln>
        </p:spPr>
        <p:txBody>
          <a:bodyPr lIns="54720" tIns="27360" rIns="54720" bIns="27360" anchor="t">
            <a:normAutofit fontScale="70000" lnSpcReduction="20000"/>
          </a:bodyPr>
          <a:lstStyle/>
          <a:p>
            <a:pPr indent="0">
              <a:spcBef>
                <a:spcPts val="1417"/>
              </a:spcBef>
              <a:buNone/>
            </a:pPr>
            <a:r>
              <a:rPr lang="pt-PT" sz="9900" b="1" strike="noStrike" spc="-1" dirty="0">
                <a:solidFill>
                  <a:schemeClr val="accent1"/>
                </a:solidFill>
                <a:latin typeface="Calibri"/>
              </a:rPr>
              <a:t>Portal Web Educação Online - </a:t>
            </a:r>
            <a:r>
              <a:rPr lang="pt-PT" sz="9900" b="1" strike="noStrike" spc="-1" dirty="0" err="1">
                <a:solidFill>
                  <a:schemeClr val="accent1"/>
                </a:solidFill>
                <a:latin typeface="Calibri"/>
              </a:rPr>
              <a:t>Educaweb</a:t>
            </a:r>
            <a:endParaRPr lang="pt-PT" sz="9900" b="1" strike="noStrike" spc="-1" dirty="0">
              <a:solidFill>
                <a:schemeClr val="accent1"/>
              </a:solidFill>
              <a:latin typeface="Calibri"/>
            </a:endParaRPr>
          </a:p>
          <a:p>
            <a:pPr indent="0">
              <a:spcBef>
                <a:spcPts val="1417"/>
              </a:spcBef>
              <a:buNone/>
            </a:pPr>
            <a:endParaRPr lang="en-US" sz="9900" b="1" strike="noStrike" spc="-1" dirty="0">
              <a:solidFill>
                <a:schemeClr val="accent1"/>
              </a:solidFill>
              <a:latin typeface="Calibri"/>
            </a:endParaRPr>
          </a:p>
        </p:txBody>
      </p:sp>
      <p:sp>
        <p:nvSpPr>
          <p:cNvPr id="76" name="PlaceHolder 11"/>
          <p:cNvSpPr>
            <a:spLocks noGrp="1"/>
          </p:cNvSpPr>
          <p:nvPr>
            <p:ph/>
          </p:nvPr>
        </p:nvSpPr>
        <p:spPr>
          <a:xfrm>
            <a:off x="449640" y="4830480"/>
            <a:ext cx="4896360" cy="989280"/>
          </a:xfrm>
          <a:prstGeom prst="rect">
            <a:avLst/>
          </a:prstGeom>
          <a:noFill/>
          <a:ln w="0">
            <a:noFill/>
          </a:ln>
        </p:spPr>
        <p:txBody>
          <a:bodyPr lIns="63360" tIns="63360" rIns="63360" bIns="63360" anchor="ctr">
            <a:noAutofit/>
          </a:bodyPr>
          <a:lstStyle/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PT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E</a:t>
            </a:r>
            <a:r>
              <a:rPr lang="pt-PT" sz="2800" b="0" strike="noStrike" spc="-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nquadramento e objetivos do projeto 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" name="Imagem 5" descr="Uma imagem com texto, Tipo de letra, captura de ecrã, software&#10;&#10;Os conteúdos gerados por IA poderão estar incorretos.">
            <a:extLst>
              <a:ext uri="{FF2B5EF4-FFF2-40B4-BE49-F238E27FC236}">
                <a16:creationId xmlns:a16="http://schemas.microsoft.com/office/drawing/2014/main" id="{65978C29-318C-02A7-B964-F4FB0D77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26" y="24654745"/>
            <a:ext cx="5543774" cy="2518175"/>
          </a:xfrm>
          <a:prstGeom prst="rect">
            <a:avLst/>
          </a:prstGeom>
        </p:spPr>
      </p:pic>
      <p:pic>
        <p:nvPicPr>
          <p:cNvPr id="7" name="Imagem 6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E1E06E87-189B-78C3-5935-8FA2249154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1" y="24277320"/>
            <a:ext cx="6194322" cy="2636520"/>
          </a:xfrm>
          <a:prstGeom prst="rect">
            <a:avLst/>
          </a:prstGeom>
        </p:spPr>
      </p:pic>
      <p:pic>
        <p:nvPicPr>
          <p:cNvPr id="8" name="Imagem 7" descr="Uma imagem com texto, captura de ecrã, número, Tipo de letra&#10;&#10;Os conteúdos gerados por IA poderão estar incorretos.">
            <a:extLst>
              <a:ext uri="{FF2B5EF4-FFF2-40B4-BE49-F238E27FC236}">
                <a16:creationId xmlns:a16="http://schemas.microsoft.com/office/drawing/2014/main" id="{CC872D1C-AD6E-F152-2AD6-D9696BB83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3224" y="23834569"/>
            <a:ext cx="5958840" cy="3932711"/>
          </a:xfrm>
          <a:prstGeom prst="rect">
            <a:avLst/>
          </a:prstGeom>
        </p:spPr>
      </p:pic>
      <p:pic>
        <p:nvPicPr>
          <p:cNvPr id="10" name="Imagem 9" descr="Uma imagem com Tipo de letra, Gráficos, logótipo, símbolo&#10;&#10;Os conteúdos gerados por IA podem estar incorretos.">
            <a:extLst>
              <a:ext uri="{FF2B5EF4-FFF2-40B4-BE49-F238E27FC236}">
                <a16:creationId xmlns:a16="http://schemas.microsoft.com/office/drawing/2014/main" id="{24935635-F96F-970B-A961-D66FAE8380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851" y="27942706"/>
            <a:ext cx="1028653" cy="10286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B9B88BB-9EC9-4848-2FAB-F3FE15196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321" y="28000847"/>
            <a:ext cx="1236040" cy="1041728"/>
          </a:xfrm>
          <a:prstGeom prst="rect">
            <a:avLst/>
          </a:prstGeom>
        </p:spPr>
      </p:pic>
      <p:pic>
        <p:nvPicPr>
          <p:cNvPr id="12" name="Picture 14" descr="JavaScript Logo, symbol, meaning, history, PNG, brand">
            <a:extLst>
              <a:ext uri="{FF2B5EF4-FFF2-40B4-BE49-F238E27FC236}">
                <a16:creationId xmlns:a16="http://schemas.microsoft.com/office/drawing/2014/main" id="{264D0155-A209-3286-7BBE-98126CAB1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162" y="27927666"/>
            <a:ext cx="1981946" cy="111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6" descr="Visual Paradigm Crack v17.0 + License Key Free Download 2024">
            <a:extLst>
              <a:ext uri="{FF2B5EF4-FFF2-40B4-BE49-F238E27FC236}">
                <a16:creationId xmlns:a16="http://schemas.microsoft.com/office/drawing/2014/main" id="{D564700E-A084-6731-31B2-A34E19EB3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244" y="27942706"/>
            <a:ext cx="1086758" cy="108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8" descr="Visual Studio Code - YouTube">
            <a:extLst>
              <a:ext uri="{FF2B5EF4-FFF2-40B4-BE49-F238E27FC236}">
                <a16:creationId xmlns:a16="http://schemas.microsoft.com/office/drawing/2014/main" id="{F1CCA6A4-FB70-3BC7-211A-B5BC25D7D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329" y="28012220"/>
            <a:ext cx="1114961" cy="111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m 21" descr="Uma imagem com captura de ecrã, Gráficos, design&#10;&#10;Os conteúdos gerados por IA podem estar incorretos.">
            <a:extLst>
              <a:ext uri="{FF2B5EF4-FFF2-40B4-BE49-F238E27FC236}">
                <a16:creationId xmlns:a16="http://schemas.microsoft.com/office/drawing/2014/main" id="{19857185-81FE-CA2A-EB4B-EBE8AE37C2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5803" y="28000811"/>
            <a:ext cx="1857600" cy="1137780"/>
          </a:xfrm>
          <a:prstGeom prst="rect">
            <a:avLst/>
          </a:prstGeom>
        </p:spPr>
      </p:pic>
      <p:pic>
        <p:nvPicPr>
          <p:cNvPr id="26" name="Imagem 25" descr="Uma imagem com Gráficos, logótipo, Tipo de letra, texto&#10;&#10;Os conteúdos gerados por IA podem estar incorretos.">
            <a:extLst>
              <a:ext uri="{FF2B5EF4-FFF2-40B4-BE49-F238E27FC236}">
                <a16:creationId xmlns:a16="http://schemas.microsoft.com/office/drawing/2014/main" id="{AE991838-6822-E2ED-13BB-AA1DD5D13C8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165" y="28000812"/>
            <a:ext cx="1028652" cy="102865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B805510F-127E-889B-31D7-2646BC75AC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154" y="13789181"/>
            <a:ext cx="11925886" cy="5534025"/>
          </a:xfrm>
          <a:prstGeom prst="rect">
            <a:avLst/>
          </a:prstGeom>
        </p:spPr>
      </p:pic>
      <p:pic>
        <p:nvPicPr>
          <p:cNvPr id="23" name="Imagem 22" descr="Uma imagem com símbolo, logótipo, texto, Tipo de letra&#10;&#10;Os conteúdos gerados por IA podem estar incorretos.">
            <a:extLst>
              <a:ext uri="{FF2B5EF4-FFF2-40B4-BE49-F238E27FC236}">
                <a16:creationId xmlns:a16="http://schemas.microsoft.com/office/drawing/2014/main" id="{54B92D2E-87D5-35BE-0CC4-1515249E3E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599" y="5077986"/>
            <a:ext cx="9797042" cy="3379656"/>
          </a:xfrm>
          <a:prstGeom prst="rect">
            <a:avLst/>
          </a:prstGeom>
        </p:spPr>
      </p:pic>
      <p:pic>
        <p:nvPicPr>
          <p:cNvPr id="28" name="Imagem 27" descr="Uma imagem com texto, captura de ecrã, Tipo de letra, file&#10;&#10;Os conteúdos gerados por IA podem estar incorretos.">
            <a:extLst>
              <a:ext uri="{FF2B5EF4-FFF2-40B4-BE49-F238E27FC236}">
                <a16:creationId xmlns:a16="http://schemas.microsoft.com/office/drawing/2014/main" id="{6A826295-BD3D-DDAD-D2CF-7948D417FA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55" y="20151133"/>
            <a:ext cx="5093844" cy="3572374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6D7B311B-6FD3-659C-B1BF-C14CB7EEF80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80" y="19846387"/>
            <a:ext cx="3714919" cy="37149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assic - Wide Center">
  <a:themeElements>
    <a:clrScheme name="Custom 1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830656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PosterPresentations.com-100CMx140CM</Template>
  <TotalTime>478</TotalTime>
  <Words>786</Words>
  <Application>Microsoft Office PowerPoint</Application>
  <PresentationFormat>Personalizados</PresentationFormat>
  <Paragraphs>12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Classic - Wide Center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Luisa Jorge</dc:creator>
  <dc:description/>
  <cp:lastModifiedBy>Dalton Martins</cp:lastModifiedBy>
  <cp:revision>24</cp:revision>
  <dcterms:created xsi:type="dcterms:W3CDTF">2012-02-10T00:21:22Z</dcterms:created>
  <dcterms:modified xsi:type="dcterms:W3CDTF">2025-06-18T19:03:56Z</dcterms:modified>
  <dc:language>pt-PT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2</vt:i4>
  </property>
</Properties>
</file>