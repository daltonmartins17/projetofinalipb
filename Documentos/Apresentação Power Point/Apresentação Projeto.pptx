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8" r:id="rId2"/>
    <p:sldId id="277" r:id="rId3"/>
    <p:sldId id="258" r:id="rId4"/>
    <p:sldId id="259" r:id="rId5"/>
    <p:sldId id="270" r:id="rId6"/>
    <p:sldId id="260" r:id="rId7"/>
    <p:sldId id="282" r:id="rId8"/>
    <p:sldId id="269" r:id="rId9"/>
    <p:sldId id="261" r:id="rId10"/>
    <p:sldId id="271" r:id="rId11"/>
    <p:sldId id="272" r:id="rId12"/>
    <p:sldId id="273" r:id="rId13"/>
    <p:sldId id="274" r:id="rId14"/>
    <p:sldId id="263" r:id="rId15"/>
    <p:sldId id="278" r:id="rId16"/>
    <p:sldId id="279" r:id="rId17"/>
    <p:sldId id="280" r:id="rId18"/>
    <p:sldId id="264" r:id="rId19"/>
    <p:sldId id="265" r:id="rId20"/>
    <p:sldId id="266" r:id="rId21"/>
    <p:sldId id="267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F65D5-696E-4653-95C3-AC3E29A1D945}" type="datetimeFigureOut">
              <a:rPr lang="pt-PT" smtClean="0"/>
              <a:t>08/07/2025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1534C-0267-4B40-B922-239403DF8B3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8869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7EC39-3BBF-0582-B915-F7BC4984F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Portal WEB Educação Online – </a:t>
            </a:r>
            <a:r>
              <a:rPr lang="pt-P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EducaWeb</a:t>
            </a:r>
            <a:endParaRPr lang="pt-P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893076DF-46EC-8DE9-A627-4173FA897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Autores:</a:t>
            </a:r>
          </a:p>
          <a:p>
            <a:pPr marL="0" indent="0" algn="ctr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Dalton Medeiros Martins (a43051)</a:t>
            </a:r>
          </a:p>
          <a:p>
            <a:pPr marL="0" indent="0" algn="ctr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Rafael Leandro do Espírito Santo Gracias (a48713)</a:t>
            </a:r>
          </a:p>
          <a:p>
            <a:pPr marL="0" indent="0" algn="ctr"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Orientadora:</a:t>
            </a:r>
          </a:p>
          <a:p>
            <a:pPr marL="0" indent="0" algn="ctr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Isabel Maria Lopes</a:t>
            </a:r>
          </a:p>
          <a:p>
            <a:pPr marL="0" indent="0" algn="ctr"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Curso:</a:t>
            </a:r>
          </a:p>
          <a:p>
            <a:pPr marL="0" indent="0" algn="ctr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Informática de Gestão</a:t>
            </a:r>
          </a:p>
          <a:p>
            <a:pPr marL="0" indent="0" algn="ctr"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 Letivo:</a:t>
            </a:r>
          </a:p>
          <a:p>
            <a:pPr marL="0" indent="0" algn="ctr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2024/2025</a:t>
            </a:r>
          </a:p>
          <a:p>
            <a:pPr marL="0" indent="0" algn="ctr">
              <a:buNone/>
            </a:pP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</a:p>
          <a:p>
            <a:pPr marL="0" indent="0" algn="ctr">
              <a:buNone/>
            </a:pP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de Julho de 2025</a:t>
            </a:r>
          </a:p>
        </p:txBody>
      </p:sp>
    </p:spTree>
    <p:extLst>
      <p:ext uri="{BB962C8B-B14F-4D97-AF65-F5344CB8AC3E}">
        <p14:creationId xmlns:p14="http://schemas.microsoft.com/office/powerpoint/2010/main" val="832389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ED72C9-B57B-F246-7D21-CFE59D089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Logótipo </a:t>
            </a:r>
            <a:r>
              <a:rPr lang="pt-P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EducaWeb</a:t>
            </a:r>
            <a:endParaRPr lang="pt-P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Marcador de Posição de Conteúdo 4" descr="Uma imagem com símbolo, logótipo, texto, Tipo de letra&#10;&#10;Os conteúdos gerados por IA podem estar incorretos.">
            <a:extLst>
              <a:ext uri="{FF2B5EF4-FFF2-40B4-BE49-F238E27FC236}">
                <a16:creationId xmlns:a16="http://schemas.microsoft.com/office/drawing/2014/main" id="{770A0892-669B-A0A3-2B7E-E26678668D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9018" y="1600200"/>
            <a:ext cx="4525963" cy="4525963"/>
          </a:xfrm>
        </p:spPr>
      </p:pic>
    </p:spTree>
    <p:extLst>
      <p:ext uri="{BB962C8B-B14F-4D97-AF65-F5344CB8AC3E}">
        <p14:creationId xmlns:p14="http://schemas.microsoft.com/office/powerpoint/2010/main" val="2040018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  <a:defRPr sz="2000">
                <a:latin typeface="Calibri"/>
              </a:defRPr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Contextualização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 o avanço da aprendizagem digital e a crescente necessidade de plataformas online eficientes e interativas, o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EducaWeb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surge como uma resposta às exigências do ensino contemporâneo.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Objetivos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Desenvolver uma plataforma moderna, funcional e acessível.</a:t>
            </a:r>
          </a:p>
          <a:p>
            <a:pPr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Facilitar a gestão do processo ensino-aprendizagem.</a:t>
            </a:r>
          </a:p>
          <a:p>
            <a:pPr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Promover democratização do conhecimento e flexibilidade educativa.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Metodologia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Iterativa (requisitos, análise, desenho, implementação, testes, documentação).</a:t>
            </a:r>
          </a:p>
          <a:p>
            <a:pPr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Ferramentas: VS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Workbench, Visual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Paradigm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HeidiSQL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Word, Chrome.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Projeto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Funcionalidades Implementadas: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Registo e autenticação (JWT).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Áreas específicas para Aluno, Professor e Administrador.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Gestão de cursos, aulas, materiais e avaliações.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Emissão de certificados.</a:t>
            </a:r>
          </a:p>
          <a:p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FAQs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contacto com suporte.</a:t>
            </a:r>
          </a:p>
          <a:p>
            <a:pPr marL="0" indent="0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de Dados: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Estrutura relacional com entidades principais: </a:t>
            </a:r>
            <a:r>
              <a:rPr lang="pt-PT" sz="2000" dirty="0"/>
              <a:t>Utilizador, Aluno, Professor, Curso, Aula, Material, Avaliação, Submissão, Inscrição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70207-9055-E16E-07D8-D9CAF560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Entidade Relacional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0C8DAADB-7900-8E35-2283-3CA9A3403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04568" y="1600200"/>
            <a:ext cx="7782231" cy="4525963"/>
          </a:xfrm>
        </p:spPr>
      </p:pic>
    </p:spTree>
    <p:extLst>
      <p:ext uri="{BB962C8B-B14F-4D97-AF65-F5344CB8AC3E}">
        <p14:creationId xmlns:p14="http://schemas.microsoft.com/office/powerpoint/2010/main" val="4082262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Requisitos Funcionais (RF):</a:t>
            </a:r>
            <a:b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que sistema deve fazer:</a:t>
            </a:r>
          </a:p>
          <a:p>
            <a:pPr marL="0" indent="0">
              <a:buNone/>
              <a:defRPr sz="2000">
                <a:latin typeface="Calibri"/>
              </a:defRPr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RF01 - O sistema deve permitir que o utilizador efetue login e registo.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RF02 - O utilizador deve conseguir aceder ao catálogo de cursos disponíveis.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RF03 - O sistema deve permitir visualizar testemunhos de outros utilizadores.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RF04 - O utilizador deve poder entrar em contacto com a equipa de suporte.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RF05 - O utilizador deve poder aceder às secções de FAQ e informações sobre o site.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RF06 - O aluno deve poder inscrever-se num curso e receber confirmação por email.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RF07 - O aluno deve conseguir assistir a aulas ao vivo e interagir com colegas e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professores.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RF08 - O sistema deve permitir o uso de chat ao vivo durante as aulas.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RF09 - O aluno deve poder aceder aos materiais e gravações das aulas.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RF10 - O aluno deve poder realizar avaliações e visualizar a sua pontuação.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RF11 - O sistema deve permitir a conclusão de cursos.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RF12 - O professor deve poder elaborar avaliações e enviar materiais didáticos.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RF13 - O professor deve poder interagir com os alunos durante as aulas ao vivo.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RF14 - O administrador deve poder gerir cursos e utilizadores do sistema.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RF15 - O administrador deve poder enviar certificados aos alunos.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CEFA8-AF23-04B7-134A-E10E815EC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90466-FD98-EEF5-29B0-750E4A54C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Requisitos Não Funcionais (RNF):</a:t>
            </a:r>
            <a:b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32D8B-3214-50A8-0659-4F39E12CD5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Comportamento e características do sistema</a:t>
            </a:r>
          </a:p>
          <a:p>
            <a:pPr marL="0" indent="0">
              <a:buNone/>
              <a:defRPr sz="2000">
                <a:latin typeface="Calibri"/>
              </a:defRPr>
            </a:pP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RNF01 - O sistema deve apresentar uma interface responsiva, compatível com desktops.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RNF02 - O sistema deverá estar disponível online 24/7 com uma taxa de disponibilidade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mínima de 99%.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RNF03 - Os dados dos utilizadores devem ser armazenados de forma segura, com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encriptação de palavras-passe.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RNF04 - A comunicação entre cliente e servidor deve ser encriptada utilizando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SSL/TLS.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RNF05 - O tempo de resposta do sistema não deve exceder 2 segundos para operações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comuns.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RNF06 - O sistema deverá suportar múltiplos utilizadores simultâneos sem perda de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desempenho percetível.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RNF07 - A acessibilidade será considerada em versões futuras, com vista ao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cumprimento das diretrizes WCAG.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RNF08 - O sistema deve registar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eventos importantes como erros, acessos e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ações administrativas.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RNF09 - A plataforma deve ser compatível com os principais navegadores (Chrome,</a:t>
            </a:r>
          </a:p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Firefox,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Edge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Safari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3629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D25C1-8E14-1FFB-EE5A-D90205BB0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 de Uso</a:t>
            </a:r>
          </a:p>
        </p:txBody>
      </p:sp>
      <p:pic>
        <p:nvPicPr>
          <p:cNvPr id="5" name="Marcador de Posição de Conteúdo 4" descr="Uma imagem com texto, diagrama, captura de ecrã, Tipo de letra&#10;&#10;Os conteúdos gerados por IA podem estar incorretos.">
            <a:extLst>
              <a:ext uri="{FF2B5EF4-FFF2-40B4-BE49-F238E27FC236}">
                <a16:creationId xmlns:a16="http://schemas.microsoft.com/office/drawing/2014/main" id="{81D5757C-3DFD-558A-8F65-2CC932334A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76026"/>
            <a:ext cx="8229600" cy="3374310"/>
          </a:xfrm>
        </p:spPr>
      </p:pic>
    </p:spTree>
    <p:extLst>
      <p:ext uri="{BB962C8B-B14F-4D97-AF65-F5344CB8AC3E}">
        <p14:creationId xmlns:p14="http://schemas.microsoft.com/office/powerpoint/2010/main" val="168867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Desenho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Aplicação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Ferramenta: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Figma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Princípios: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centrado no utilizador, usabilidade, consistência visual.</a:t>
            </a:r>
          </a:p>
          <a:p>
            <a:pPr marL="0" indent="0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Perfis: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Utilizador (</a:t>
            </a:r>
            <a:r>
              <a:rPr lang="pt-PT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acesso público a cursos, testemunhos, contacto.</a:t>
            </a:r>
          </a:p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Aluno: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inscrição em cursos, participação em aulas, avaliações.</a:t>
            </a:r>
          </a:p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Professor: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gestão de conteúdos, interação com alunos, criação de avaliações.</a:t>
            </a:r>
          </a:p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Administrador: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gestão integral da plataforma e emissão de certificados.</a:t>
            </a:r>
          </a:p>
          <a:p>
            <a:pPr marL="0" indent="0">
              <a:buNone/>
              <a:defRPr sz="20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5B778-FC38-9FF2-54E5-5C1183281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Utilizador (</a:t>
            </a:r>
            <a:r>
              <a:rPr lang="pt-P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Home</a:t>
            </a: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sz="2800" dirty="0"/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ACB01E28-45D4-7151-5983-C7A0901E83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8411" y="1600200"/>
            <a:ext cx="6327177" cy="4525963"/>
          </a:xfrm>
        </p:spPr>
      </p:pic>
    </p:spTree>
    <p:extLst>
      <p:ext uri="{BB962C8B-B14F-4D97-AF65-F5344CB8AC3E}">
        <p14:creationId xmlns:p14="http://schemas.microsoft.com/office/powerpoint/2010/main" val="209370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9479D-D7E0-B0E0-E070-5E9D21C8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Aluno</a:t>
            </a:r>
            <a:endParaRPr lang="pt-PT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FA1A6D24-FF35-CEF2-A481-95D207FCF1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3984" y="1297858"/>
            <a:ext cx="7743268" cy="4828305"/>
          </a:xfrm>
        </p:spPr>
      </p:pic>
    </p:spTree>
    <p:extLst>
      <p:ext uri="{BB962C8B-B14F-4D97-AF65-F5344CB8AC3E}">
        <p14:creationId xmlns:p14="http://schemas.microsoft.com/office/powerpoint/2010/main" val="26212456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2D4129-0436-C068-DD1F-92DEC2E6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21E6F338-6E25-328E-7FC9-8178ED989B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417638"/>
            <a:ext cx="8039883" cy="4708525"/>
          </a:xfrm>
        </p:spPr>
      </p:pic>
    </p:spTree>
    <p:extLst>
      <p:ext uri="{BB962C8B-B14F-4D97-AF65-F5344CB8AC3E}">
        <p14:creationId xmlns:p14="http://schemas.microsoft.com/office/powerpoint/2010/main" val="34535263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8FF81-7527-0D17-647D-E4AD0C0BB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2BEE4-6384-5576-4BE0-149EABE8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Administrador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3CEF1F71-F132-0C62-87B0-F3F716436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071" y="1202808"/>
            <a:ext cx="7462684" cy="4923356"/>
          </a:xfrm>
        </p:spPr>
      </p:pic>
    </p:spTree>
    <p:extLst>
      <p:ext uri="{BB962C8B-B14F-4D97-AF65-F5344CB8AC3E}">
        <p14:creationId xmlns:p14="http://schemas.microsoft.com/office/powerpoint/2010/main" val="3610968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e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Usabilidade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Objetivo: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Experiência de utilização intuitiva e responsiva.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responsivo: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Bootstrap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HTML5 + CSS3.</a:t>
            </a:r>
            <a:b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Áreas diferenciadas por perfil: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Acesso restrito e permissões específicas.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Navegação clara e fluida.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Interfaces amigáveis mesmo para utilizadores com pouca literacia digital.</a:t>
            </a:r>
          </a:p>
          <a:p>
            <a:pPr marL="0" indent="0">
              <a:buNone/>
              <a:defRPr sz="20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BC8CA-D4A4-08CA-95FB-393D746CA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Página Alunos</a:t>
            </a:r>
          </a:p>
        </p:txBody>
      </p:sp>
      <p:pic>
        <p:nvPicPr>
          <p:cNvPr id="5" name="Marcador de Posição de Conteúdo 4">
            <a:extLst>
              <a:ext uri="{FF2B5EF4-FFF2-40B4-BE49-F238E27FC236}">
                <a16:creationId xmlns:a16="http://schemas.microsoft.com/office/drawing/2014/main" id="{F2204B11-779A-82DF-D30D-2A8505C4BC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981287"/>
            <a:ext cx="8229600" cy="3763788"/>
          </a:xfrm>
        </p:spPr>
      </p:pic>
    </p:spTree>
    <p:extLst>
      <p:ext uri="{BB962C8B-B14F-4D97-AF65-F5344CB8AC3E}">
        <p14:creationId xmlns:p14="http://schemas.microsoft.com/office/powerpoint/2010/main" val="1769293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03A5A-82AF-9944-4221-EF858850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329A06-E634-2957-5776-19424DB2C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Página Professores</a:t>
            </a:r>
          </a:p>
        </p:txBody>
      </p:sp>
      <p:pic>
        <p:nvPicPr>
          <p:cNvPr id="7" name="Marcador de Posição de Conteúdo 6">
            <a:extLst>
              <a:ext uri="{FF2B5EF4-FFF2-40B4-BE49-F238E27FC236}">
                <a16:creationId xmlns:a16="http://schemas.microsoft.com/office/drawing/2014/main" id="{C12EB062-8B2F-0D05-81C4-9D1E34696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42731"/>
            <a:ext cx="8229600" cy="4440901"/>
          </a:xfrm>
        </p:spPr>
      </p:pic>
    </p:spTree>
    <p:extLst>
      <p:ext uri="{BB962C8B-B14F-4D97-AF65-F5344CB8AC3E}">
        <p14:creationId xmlns:p14="http://schemas.microsoft.com/office/powerpoint/2010/main" val="675591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F299D-FEBF-9933-A4D1-0E8B88BC4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D606BC-3587-EF0A-83C5-13986AC9D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Página Administrador</a:t>
            </a: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5E693A2D-8905-50AF-F8F2-E045083E04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311658"/>
            <a:ext cx="8229600" cy="3103046"/>
          </a:xfrm>
        </p:spPr>
      </p:pic>
    </p:spTree>
    <p:extLst>
      <p:ext uri="{BB962C8B-B14F-4D97-AF65-F5344CB8AC3E}">
        <p14:creationId xmlns:p14="http://schemas.microsoft.com/office/powerpoint/2010/main" val="1016207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Tecnologias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Utilizadas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</a:t>
            </a:r>
          </a:p>
          <a:p>
            <a:pPr>
              <a:defRPr sz="200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Node.js + Express</a:t>
            </a:r>
          </a:p>
          <a:p>
            <a:pPr>
              <a:defRPr sz="200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de Dados: MySQL</a:t>
            </a:r>
          </a:p>
          <a:p>
            <a:pPr>
              <a:defRPr sz="200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ORM: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Sequelize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>
                <a:latin typeface="Calibri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Outros: Bootstrap, Figma, JWT, HTML5/CSS3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Testes e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Estratégia de Testes: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Testes manuais (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Fluxos principais validados para cada perfil de utilizador.</a:t>
            </a:r>
          </a:p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Casos de Teste: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Login, inscrição em cursos, submissão de avaliações, gestão de conteúdos.</a:t>
            </a:r>
          </a:p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 Obtidos: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funcional e consistente.</a:t>
            </a: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 performance e navegação fluida.</a:t>
            </a:r>
          </a:p>
          <a:p>
            <a:pPr marL="0" indent="0">
              <a:buNone/>
              <a:defRPr sz="20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Melhorias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Futuras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PT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Melhorias Futuras:</a:t>
            </a:r>
            <a:endParaRPr lang="pt-PT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Implementação de testes automatizados.</a:t>
            </a:r>
          </a:p>
          <a:p>
            <a:r>
              <a:rPr lang="pt-PT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Dashboards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desempenho.</a:t>
            </a:r>
          </a:p>
          <a:p>
            <a:pPr marL="0" indent="0">
              <a:buNone/>
              <a:defRPr sz="2000">
                <a:latin typeface="Calibri"/>
              </a:defRPr>
            </a:pP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000">
                <a:latin typeface="Calibri"/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projeto permitiu consolidar competências em desenvolvimento web e gestão de bases de dados, resultando numa plataforma moderna, segura e escalável, alinhada com as necessidades do ensino a distância atual. O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EducaWeb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 potencial para contribuir para a democratização do ensino online, tendo sido uma experiência enriquecedora de trabalho colaborativo e de resolução de desafios.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924</Words>
  <Application>Microsoft Office PowerPoint</Application>
  <PresentationFormat>Apresentação no Ecrã (4:3)</PresentationFormat>
  <Paragraphs>117</Paragraphs>
  <Slides>21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Times New Roman</vt:lpstr>
      <vt:lpstr>Office Theme</vt:lpstr>
      <vt:lpstr>Portal WEB Educação Online – EducaWeb</vt:lpstr>
      <vt:lpstr>Logótipo EducaWeb</vt:lpstr>
      <vt:lpstr>Introdução</vt:lpstr>
      <vt:lpstr>Desenvolvimento do Projeto</vt:lpstr>
      <vt:lpstr>Entidade Relacional</vt:lpstr>
      <vt:lpstr>Requisitos Funcionais (RF): </vt:lpstr>
      <vt:lpstr>Requisitos Não Funcionais (RNF): </vt:lpstr>
      <vt:lpstr>Caso de Uso</vt:lpstr>
      <vt:lpstr>Desenho da Aplicação</vt:lpstr>
      <vt:lpstr>Utilizador (Home)</vt:lpstr>
      <vt:lpstr>Aluno</vt:lpstr>
      <vt:lpstr>Professor</vt:lpstr>
      <vt:lpstr>Administrador</vt:lpstr>
      <vt:lpstr>Interface e Usabilidade</vt:lpstr>
      <vt:lpstr>Página Alunos</vt:lpstr>
      <vt:lpstr>Página Professores</vt:lpstr>
      <vt:lpstr>Página Administrador</vt:lpstr>
      <vt:lpstr>Tecnologias Utilizadas</vt:lpstr>
      <vt:lpstr>Testes e Resultados</vt:lpstr>
      <vt:lpstr>Melhorias Futuras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Dalton Martins</cp:lastModifiedBy>
  <cp:revision>39</cp:revision>
  <dcterms:created xsi:type="dcterms:W3CDTF">2013-01-27T09:14:16Z</dcterms:created>
  <dcterms:modified xsi:type="dcterms:W3CDTF">2025-07-08T08:16:22Z</dcterms:modified>
  <cp:category/>
</cp:coreProperties>
</file>